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161_4CF58306.xml" ContentType="application/vnd.ms-powerpoint.comment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685" r:id="rId2"/>
    <p:sldId id="698" r:id="rId3"/>
    <p:sldId id="688" r:id="rId4"/>
    <p:sldId id="689" r:id="rId5"/>
    <p:sldId id="702" r:id="rId6"/>
    <p:sldId id="701" r:id="rId7"/>
    <p:sldId id="687" r:id="rId8"/>
    <p:sldId id="697" r:id="rId9"/>
    <p:sldId id="699" r:id="rId10"/>
    <p:sldId id="707" r:id="rId11"/>
    <p:sldId id="708" r:id="rId12"/>
    <p:sldId id="263" r:id="rId13"/>
    <p:sldId id="675" r:id="rId14"/>
    <p:sldId id="700" r:id="rId15"/>
    <p:sldId id="679" r:id="rId16"/>
    <p:sldId id="684" r:id="rId17"/>
    <p:sldId id="694" r:id="rId18"/>
    <p:sldId id="696" r:id="rId19"/>
    <p:sldId id="691" r:id="rId20"/>
    <p:sldId id="704" r:id="rId21"/>
    <p:sldId id="705" r:id="rId22"/>
    <p:sldId id="690" r:id="rId23"/>
    <p:sldId id="681" r:id="rId24"/>
    <p:sldId id="692" r:id="rId25"/>
    <p:sldId id="695" r:id="rId26"/>
    <p:sldId id="674" r:id="rId27"/>
    <p:sldId id="678" r:id="rId28"/>
    <p:sldId id="676" r:id="rId29"/>
    <p:sldId id="673" r:id="rId30"/>
    <p:sldId id="353" r:id="rId31"/>
    <p:sldId id="354" r:id="rId32"/>
    <p:sldId id="256" r:id="rId33"/>
    <p:sldId id="257" r:id="rId34"/>
    <p:sldId id="260" r:id="rId35"/>
    <p:sldId id="271" r:id="rId36"/>
    <p:sldId id="261" r:id="rId37"/>
    <p:sldId id="272" r:id="rId38"/>
    <p:sldId id="258" r:id="rId39"/>
    <p:sldId id="259" r:id="rId40"/>
    <p:sldId id="677" r:id="rId41"/>
    <p:sldId id="264" r:id="rId42"/>
    <p:sldId id="265" r:id="rId43"/>
    <p:sldId id="266" r:id="rId44"/>
    <p:sldId id="26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nnel results" id="{FDE93C82-59AE-0042-A83D-49B546F1EB89}">
          <p14:sldIdLst>
            <p14:sldId id="685"/>
            <p14:sldId id="698"/>
            <p14:sldId id="688"/>
            <p14:sldId id="689"/>
            <p14:sldId id="702"/>
            <p14:sldId id="701"/>
            <p14:sldId id="687"/>
            <p14:sldId id="697"/>
            <p14:sldId id="699"/>
            <p14:sldId id="707"/>
            <p14:sldId id="708"/>
            <p14:sldId id="263"/>
            <p14:sldId id="675"/>
            <p14:sldId id="700"/>
            <p14:sldId id="679"/>
            <p14:sldId id="684"/>
            <p14:sldId id="694"/>
            <p14:sldId id="696"/>
            <p14:sldId id="691"/>
            <p14:sldId id="704"/>
            <p14:sldId id="705"/>
            <p14:sldId id="690"/>
            <p14:sldId id="681"/>
            <p14:sldId id="692"/>
            <p14:sldId id="695"/>
            <p14:sldId id="674"/>
            <p14:sldId id="678"/>
            <p14:sldId id="676"/>
          </p14:sldIdLst>
        </p14:section>
        <p14:section name="Tracer illustration" id="{1E695D1F-231E-AD4F-94B1-B5B354BF4D5E}">
          <p14:sldIdLst>
            <p14:sldId id="673"/>
            <p14:sldId id="353"/>
            <p14:sldId id="354"/>
          </p14:sldIdLst>
        </p14:section>
        <p14:section name="Decomposition terms" id="{890CB65F-99E6-664E-8314-2794DD554E85}">
          <p14:sldIdLst>
            <p14:sldId id="256"/>
            <p14:sldId id="257"/>
            <p14:sldId id="260"/>
            <p14:sldId id="271"/>
            <p14:sldId id="261"/>
            <p14:sldId id="272"/>
            <p14:sldId id="258"/>
            <p14:sldId id="259"/>
            <p14:sldId id="677"/>
          </p14:sldIdLst>
        </p14:section>
        <p14:section name="Illustration" id="{D08E138B-605C-8641-878C-036F06534399}">
          <p14:sldIdLst>
            <p14:sldId id="264"/>
            <p14:sldId id="265"/>
            <p14:sldId id="266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41D3386-1279-D91E-76EA-E4D3FC7AFA99}" name="Octavia Crompton" initials="OC" userId="S::ovc@duke.edu::ba62332e-0912-4431-8780-2d1f7d910b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1"/>
    <p:restoredTop sz="96357"/>
  </p:normalViewPr>
  <p:slideViewPr>
    <p:cSldViewPr snapToGrid="0">
      <p:cViewPr varScale="1">
        <p:scale>
          <a:sx n="134" d="100"/>
          <a:sy n="134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modernComment_161_4CF583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584D6A-F7B9-D447-8054-E6F9411EC85A}" authorId="{E41D3386-1279-D91E-76EA-E4D3FC7AFA99}" created="2023-03-22T19:16:13.0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91158278" sldId="353"/>
      <ac:picMk id="2054" creationId="{311BE672-6094-9B4A-A8FC-5EB60BF099C5}"/>
    </ac:deMkLst>
    <p188:txBody>
      <a:bodyPr/>
      <a:lstStyle/>
      <a:p>
        <a:r>
          <a:rPr lang="en-US"/>
          <a:t>Update these figures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3E46C-9FF3-A44B-B8B6-FF106A0739E3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F998B-8FD3-7C45-A147-B252A943B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11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</a:t>
            </a:r>
            <a:r>
              <a:rPr lang="en-AU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summarize</a:t>
            </a:r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these distributions of path lengths, I took the averages and normalized by the hillslope length.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A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we'd like to understand how these lengthscales vary under changing storm and landscape conditions, and to do this,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 = 5 cm/hr,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en-AU" sz="1200" kern="1200" baseline="-250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60 min, </a:t>
            </a: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Fv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0.3, and </a:t>
            </a:r>
            <a:r>
              <a:rPr lang="el-G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 = 4.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Linfl</a:t>
            </a:r>
            <a:r>
              <a:rPr lang="en-A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0.25 and Ls = 0.44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3A6C3-429D-E04A-B620-641946EA76E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this plot shows the escaped lengthscale on the x axis, versus the runoff coefficient on the y axis, where each point represents one of the 900 simulations and colour shows the storm duration. </a:t>
            </a:r>
          </a:p>
          <a:p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relation between these variables is remarkably stationary across all the simulated variation in spatial pattern, storm and surface characteristics.</a:t>
            </a:r>
          </a:p>
          <a:p>
            <a:endParaRPr lang="en-A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this plot shows the captured lengthscale on the x axis, versus the runoff coefficient on the y axis.  The relation between these variables is less stationary, with some but not all of the variation coming from the storm duration.</a:t>
            </a:r>
          </a:p>
          <a:p>
            <a:endParaRPr lang="en-AU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A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final panel shows the escaped lengthscale on the x axis, versus the captured lengthscale on the y axis, showing that tracers that escape are travelling further ...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 paths. </a:t>
            </a:r>
            <a:r>
              <a:rPr lang="en-US" sz="1200" dirty="0"/>
              <a:t>Tracers that escape seem to be preferentially routed around the vegetated 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3A6C3-429D-E04A-B620-641946EA76E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64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To look at this more closely, I created a tortuosity metric, which  describes the windiness of the tracers, and is computed as the mean standard deviation of the tracer positions in the across-slope direction.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and this provides some insights.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This plot shows the tortuosity adjusted by rainfall duration on the x axis,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and the difference in lengthscales on the y axis.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and what we see is that </a:t>
            </a:r>
            <a:r>
              <a:rPr lang="en-US" sz="1200" dirty="0">
                <a:sym typeface="Wingdings" pitchFamily="2" charset="2"/>
              </a:rPr>
              <a:t>by introducing tortuosity,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ym typeface="Wingdings" pitchFamily="2" charset="2"/>
              </a:rPr>
              <a:t>the d</a:t>
            </a:r>
            <a:r>
              <a:rPr lang="en-US" sz="1200" dirty="0"/>
              <a:t>ifference in lengthscale seems to be collapsed, </a:t>
            </a:r>
            <a:endParaRPr lang="en-US" sz="1200" dirty="0">
              <a:sym typeface="Wingdings" pitchFamily="2" charset="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ym typeface="Wingdings" pitchFamily="2" charset="2"/>
              </a:rPr>
              <a:t>and this collapse is explained by rainfall duration and tortuosity.</a:t>
            </a:r>
          </a:p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13A6C3-429D-E04A-B620-641946EA76E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753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F998B-8FD3-7C45-A147-B252A943B35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91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F998B-8FD3-7C45-A147-B252A943B35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765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F998B-8FD3-7C45-A147-B252A943B35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45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F998B-8FD3-7C45-A147-B252A943B35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441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9C0F0A-330D-784E-81AE-0F3536CD30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55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47C6A-3B3C-0A74-688B-1EEECC65A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A7121-5922-2517-138E-57905D6395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66A04-11E9-15AF-2EA0-73CAE12C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2C983-6D2A-CDED-81A7-9DB5A75F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94451-44E5-2634-6710-12E598194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81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A79B-23C8-DAA2-4830-E1E00D8F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E99D3-0284-4B61-9185-8E8EA6C05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81825-00F8-4AB3-983B-54F3B5C7D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13FC4-ECF4-CB19-5BA7-2BAE9A315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B5679-F5DD-EDAD-2B49-B08981DB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0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A4729-CB69-AFC2-EBB3-66E84D39A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EAFE7-9927-4EBE-8AAE-8607F20BA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6562A-FD7E-3A62-6A18-725F22CA4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182C4-9E4F-B01B-4AE2-DDFB81E2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F1942-72C4-3AE4-263A-860B0815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21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CE978-A046-DD8A-73E1-951483DFA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836C7-AF5F-ABE0-A970-3287E0A09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D838E-733A-6246-2C5E-3C80FE82C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B28694-5FF5-138F-C990-C48C45DD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953C6-52E9-A499-ECAD-C15A14A6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CEEB55-6DAD-62BB-7BE4-0A91BF3D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58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DEDB-A469-5437-27A3-572E6034A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0C164-279C-5AD4-BDA1-EF4841525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BC814-D014-B4AC-9200-5C48066A3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0E604-BBE1-E142-76F8-2DA7EE51B8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9DA2A9-5EC9-0EBD-D525-F7A8CDC7D9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876A6-81E1-53CB-3F43-1B10D835D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918B72-80AF-2832-E863-707B8F73E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54BDB0-57CA-5B13-B524-41CA3944F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5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F70F6-1F45-0481-4881-63016493D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A958D2-D012-9F23-6FC7-865AF3BC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6174E-664B-3EE7-55D9-C99EBDEE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E323A-B3A6-298A-FA71-6263007A9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10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B0F8-8082-935C-5A87-E41AC847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1DDE94-10DE-0F5F-C3F9-78DBFE70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899D76-7E7F-BC8D-A6DB-9BC10C942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559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B272-7FFF-DB4F-2EFC-EE2F7090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4883A-05E8-7FF3-9537-F5D9C89C6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E75F2-5545-EA9B-D510-A9AFC3D52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98AF5-7B19-B8A8-90E3-E38366C33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B8EC3-754A-4E87-B635-6A34E337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68A69-5F42-9412-B95B-8CC437592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818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7D47-C6F4-3D43-FECD-F1D1626C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79BD7-69E8-E108-4EAA-6E985B84E9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84AE6-6581-89AD-0F78-25596FB6E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8F67B-7861-5128-E53E-EB360B20A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C8D25-F3D0-964B-C27F-D0010E51A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D70C4-97EC-489B-8D97-06EB306F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17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11F36-37C2-DBBF-D1D4-EC639A5E4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F3288-D3CC-CF72-4808-C9ACC6A17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04930-3C8E-E1E1-A92C-33E6754D4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F4F32-780B-A1D6-89E7-3B4B556B1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569D8-AC3F-E323-D3B3-CA20FEB7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9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CD939-D3A1-5303-832B-F9B7E31A2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3B76D9-5ADC-8E40-062E-699AE1653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61A8-529F-D616-A56B-28746382D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339E9-B7DC-C2AD-4656-F60A2910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C2717-8639-C1B4-11F1-EE60FB8B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72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D6D0F2-69A2-9EEE-2FB1-E191D003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2FEEC-23D8-DD7D-B250-A83422408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9CB42-02F0-0BED-433A-545450C261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1D7FA2-FE49-0043-BBD5-B94F1D90E338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764CF-423F-A6D6-A9FC-65C8F9D3E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1BE50-7040-C71B-ECC8-5394589F0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45129-C290-2E41-9337-9E909B2D8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9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34.tiff"/><Relationship Id="rId11" Type="http://schemas.openxmlformats.org/officeDocument/2006/relationships/image" Target="../media/image46.png"/><Relationship Id="rId5" Type="http://schemas.openxmlformats.org/officeDocument/2006/relationships/image" Target="../media/image33.png"/><Relationship Id="rId10" Type="http://schemas.openxmlformats.org/officeDocument/2006/relationships/image" Target="../media/image450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37.png"/><Relationship Id="rId12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6.png"/><Relationship Id="rId11" Type="http://schemas.openxmlformats.org/officeDocument/2006/relationships/image" Target="../media/image32.png"/><Relationship Id="rId5" Type="http://schemas.openxmlformats.org/officeDocument/2006/relationships/image" Target="../media/image33.png"/><Relationship Id="rId10" Type="http://schemas.openxmlformats.org/officeDocument/2006/relationships/image" Target="../media/image55.png"/><Relationship Id="rId4" Type="http://schemas.microsoft.com/office/2018/10/relationships/comments" Target="../comments/modernComment_161_4CF58306.xml"/><Relationship Id="rId9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369878-6EEE-0421-20B0-9454370B6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510"/>
            <a:ext cx="7772400" cy="65989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38E59A-10E6-4FC1-07BA-FA0E1CD46B07}"/>
              </a:ext>
            </a:extLst>
          </p:cNvPr>
          <p:cNvSpPr txBox="1"/>
          <p:nvPr/>
        </p:nvSpPr>
        <p:spPr>
          <a:xfrm>
            <a:off x="9351389" y="2366128"/>
            <a:ext cx="20361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fV</a:t>
            </a:r>
            <a:r>
              <a:rPr lang="en-US" dirty="0"/>
              <a:t> = 0.2 , </a:t>
            </a:r>
          </a:p>
          <a:p>
            <a:r>
              <a:rPr lang="en-US" dirty="0" err="1"/>
              <a:t>fB</a:t>
            </a:r>
            <a:r>
              <a:rPr lang="en-US" dirty="0"/>
              <a:t> = 0.05</a:t>
            </a:r>
          </a:p>
          <a:p>
            <a:r>
              <a:rPr lang="en-US" dirty="0" err="1"/>
              <a:t>fV</a:t>
            </a:r>
            <a:r>
              <a:rPr lang="en-US" dirty="0"/>
              <a:t> = 0.4</a:t>
            </a:r>
          </a:p>
          <a:p>
            <a:endParaRPr lang="en-US" dirty="0"/>
          </a:p>
          <a:p>
            <a:r>
              <a:rPr lang="en-US" dirty="0"/>
              <a:t>ne =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93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CA20F1-D297-C777-0566-2788B1782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04" y="812799"/>
            <a:ext cx="11121685" cy="39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15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40F423-450F-3C3A-32B0-751C5162F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58" y="0"/>
            <a:ext cx="10570395" cy="40371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33E091-DC9B-C616-366E-CECD0A254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204" y="3932980"/>
            <a:ext cx="8414312" cy="32202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454FFC-F9C6-0952-3F2B-B9141D70AADA}"/>
              </a:ext>
            </a:extLst>
          </p:cNvPr>
          <p:cNvSpPr txBox="1"/>
          <p:nvPr/>
        </p:nvSpPr>
        <p:spPr>
          <a:xfrm>
            <a:off x="2894028" y="996994"/>
            <a:ext cx="214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Increasing length-scale arrow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DECF4-4ECE-ED2B-682A-6ADA79729F7D}"/>
              </a:ext>
            </a:extLst>
          </p:cNvPr>
          <p:cNvSpPr txBox="1"/>
          <p:nvPr/>
        </p:nvSpPr>
        <p:spPr>
          <a:xfrm>
            <a:off x="9832156" y="4562573"/>
            <a:ext cx="191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2 by 2</a:t>
            </a:r>
          </a:p>
        </p:txBody>
      </p:sp>
    </p:spTree>
    <p:extLst>
      <p:ext uri="{BB962C8B-B14F-4D97-AF65-F5344CB8AC3E}">
        <p14:creationId xmlns:p14="http://schemas.microsoft.com/office/powerpoint/2010/main" val="309229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C7AE74-CAA0-EAEB-D844-65AAED8E3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321" y="530602"/>
            <a:ext cx="10868991" cy="57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75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2A57F5-2B29-AFD0-3EE0-6D465B0A1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81019"/>
            <a:ext cx="5294716" cy="329595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57B9F57-C16A-333E-D947-EE2D84AC1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1529521"/>
            <a:ext cx="5294715" cy="379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9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711264-8E65-8B43-017B-15F9CF854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1" y="1864878"/>
            <a:ext cx="11065617" cy="366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03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200731-29A6-1AD7-4026-CF89410AB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24" y="359457"/>
            <a:ext cx="9936989" cy="5995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8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775B0F-0B13-28B9-80C3-5D8E37D4C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03" y="482096"/>
            <a:ext cx="8972537" cy="561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6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D1E7DD1-1EBC-E698-9EAC-433A4BF06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44" y="-1"/>
            <a:ext cx="8479523" cy="651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273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42B103-EC5F-4F0D-F0CB-3DF02007B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42440"/>
            <a:ext cx="7772400" cy="59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74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9842C2-B0A8-1F42-55A1-61C6151A9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641350"/>
            <a:ext cx="6819900" cy="557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798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523BA1-84F7-42D5-9BB0-A22D4A60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42" y="303662"/>
            <a:ext cx="6362700" cy="472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B74A97-E296-C0F5-D7B4-6866DDB9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87" y="4789196"/>
            <a:ext cx="7772400" cy="194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63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FB841D-6F99-B986-8F5D-2E7F45E6E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914" y="290551"/>
            <a:ext cx="7772400" cy="627689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1F5F91-703C-28EB-E7CD-6FC29C289381}"/>
              </a:ext>
            </a:extLst>
          </p:cNvPr>
          <p:cNvCxnSpPr/>
          <p:nvPr/>
        </p:nvCxnSpPr>
        <p:spPr>
          <a:xfrm flipH="1">
            <a:off x="7883611" y="2051222"/>
            <a:ext cx="1396313" cy="2224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85A723-83BB-A633-C086-D95BF6B433FD}"/>
              </a:ext>
            </a:extLst>
          </p:cNvPr>
          <p:cNvSpPr txBox="1"/>
          <p:nvPr/>
        </p:nvSpPr>
        <p:spPr>
          <a:xfrm>
            <a:off x="9279924" y="1838498"/>
            <a:ext cx="27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Pavloski</a:t>
            </a:r>
            <a:r>
              <a:rPr lang="en-US" dirty="0"/>
              <a:t> (1931)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D330FB-1561-F334-1C8B-C572CAC8648C}"/>
              </a:ext>
            </a:extLst>
          </p:cNvPr>
          <p:cNvSpPr txBox="1"/>
          <p:nvPr/>
        </p:nvSpPr>
        <p:spPr>
          <a:xfrm>
            <a:off x="8635314" y="986221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Flintham</a:t>
            </a:r>
            <a:r>
              <a:rPr lang="en-US" dirty="0"/>
              <a:t> Carling 1989</a:t>
            </a:r>
          </a:p>
        </p:txBody>
      </p:sp>
    </p:spTree>
    <p:extLst>
      <p:ext uri="{BB962C8B-B14F-4D97-AF65-F5344CB8AC3E}">
        <p14:creationId xmlns:p14="http://schemas.microsoft.com/office/powerpoint/2010/main" val="2895195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8F8754-9C6E-BC6F-8A00-FF377C00D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292419"/>
              </p:ext>
            </p:extLst>
          </p:nvPr>
        </p:nvGraphicFramePr>
        <p:xfrm>
          <a:off x="520695" y="346992"/>
          <a:ext cx="10087880" cy="6117272"/>
        </p:xfrm>
        <a:graphic>
          <a:graphicData uri="http://schemas.openxmlformats.org/drawingml/2006/table">
            <a:tbl>
              <a:tblPr/>
              <a:tblGrid>
                <a:gridCol w="1423843">
                  <a:extLst>
                    <a:ext uri="{9D8B030D-6E8A-4147-A177-3AD203B41FA5}">
                      <a16:colId xmlns:a16="http://schemas.microsoft.com/office/drawing/2014/main" val="656379953"/>
                    </a:ext>
                  </a:extLst>
                </a:gridCol>
                <a:gridCol w="446695">
                  <a:extLst>
                    <a:ext uri="{9D8B030D-6E8A-4147-A177-3AD203B41FA5}">
                      <a16:colId xmlns:a16="http://schemas.microsoft.com/office/drawing/2014/main" val="699064754"/>
                    </a:ext>
                  </a:extLst>
                </a:gridCol>
                <a:gridCol w="2270704">
                  <a:extLst>
                    <a:ext uri="{9D8B030D-6E8A-4147-A177-3AD203B41FA5}">
                      <a16:colId xmlns:a16="http://schemas.microsoft.com/office/drawing/2014/main" val="3601950151"/>
                    </a:ext>
                  </a:extLst>
                </a:gridCol>
                <a:gridCol w="1944988">
                  <a:extLst>
                    <a:ext uri="{9D8B030D-6E8A-4147-A177-3AD203B41FA5}">
                      <a16:colId xmlns:a16="http://schemas.microsoft.com/office/drawing/2014/main" val="1843482498"/>
                    </a:ext>
                  </a:extLst>
                </a:gridCol>
                <a:gridCol w="4001650">
                  <a:extLst>
                    <a:ext uri="{9D8B030D-6E8A-4147-A177-3AD203B41FA5}">
                      <a16:colId xmlns:a16="http://schemas.microsoft.com/office/drawing/2014/main" val="576610039"/>
                    </a:ext>
                  </a:extLst>
                </a:gridCol>
              </a:tblGrid>
              <a:tr h="288537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Arial" panose="020B0604020202020204" pitchFamily="34" charset="0"/>
                        </a:rPr>
                        <a:t>Study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Arial" panose="020B0604020202020204" pitchFamily="34" charset="0"/>
                        </a:rPr>
                        <a:t>Year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Arial" panose="020B0604020202020204" pitchFamily="34" charset="0"/>
                        </a:rPr>
                        <a:t>Setting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Arial" panose="020B0604020202020204" pitchFamily="34" charset="0"/>
                        </a:rPr>
                        <a:t>Channel Type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highlight>
                            <a:srgbClr val="4472C4"/>
                          </a:highlight>
                          <a:latin typeface="Arial" panose="020B0604020202020204" pitchFamily="34" charset="0"/>
                        </a:rPr>
                        <a:t>Methods Tested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67765"/>
                  </a:ext>
                </a:extLst>
              </a:tr>
              <a:tr h="288537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Motayed &amp; Krishnamurthy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1980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Field — 36 gauged streams in 4 US states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Compound (natural rivers with floodplains)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Horton, Lotter, Krishnamurthy-Christensen, + 1 other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90059"/>
                  </a:ext>
                </a:extLst>
              </a:tr>
              <a:tr h="432805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Yang, Cao &amp; Liu (Acta Mech. Sinica)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2005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— SERC Flood Channel Facility (UK) + collected field data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Symmetric compound channel, rough main channel &amp; rough floodplains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Pavlovskii, Einstein-Banks, Lotter, Krishnamurthy-Christensen, Dracos-Hardegger, + others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331763"/>
                  </a:ext>
                </a:extLst>
              </a:tr>
              <a:tr h="577074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Yang, Cao &amp; Liu (Acta Mech. Sinica)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2007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— large symmetric compound channel (Sichuan Univ.) + collected lab/field data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Symmetric compound, rough main channel &amp; rough floodplains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Pavlovskii, Einstein-Banks, Lotter, Cox, Krishnamurthy-Christensen; vertical/horizontal/diagonal/bisectional subdivisions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022749"/>
                  </a:ext>
                </a:extLst>
              </a:tr>
              <a:tr h="432805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Cao, Yang &amp; Liu (IAHR)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2006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+ collected field data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Compound channels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Pavlovskii, Horton-Einstein-Banks, Lotter, Krishnamurthy-Christensen, Dracos-Hardegger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329606"/>
                  </a:ext>
                </a:extLst>
              </a:tr>
              <a:tr h="577074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Djajadi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 dirty="0">
                          <a:effectLst/>
                          <a:latin typeface="Arial" panose="020B0604020202020204" pitchFamily="34" charset="0"/>
                        </a:rPr>
                        <a:t>2009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— 4m-long, 0.05m-wide trapezoidal prismatic channel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Composite (simple cross-section, not compound); different bed vs. sidewall roughness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Horton, Pavlovskii/Einstein-Banks, Lotter, Cox, Colebatch, Shear Force I (R^1/3), Shear Force II (R^1/6), Felkel, Linear P-weighted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2763318"/>
                  </a:ext>
                </a:extLst>
              </a:tr>
              <a:tr h="432805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Pradhan &amp; Khatua (River Flow 2014)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2014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— compound channels with differential roughness + FCF data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Non-homogeneous compound channels (straight)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Standard compositing methods (Horton, Pavlovskii, Lotter, Cox, etc.) + proposed modified method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657455"/>
                  </a:ext>
                </a:extLst>
              </a:tr>
              <a:tr h="432805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Pradhan &amp; Khatua (KSCE J. Civ. Eng.)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2018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— meandering compound channel (sinuosity 4.11) + literature data from 297 runs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 dirty="0">
                          <a:effectLst/>
                          <a:latin typeface="Arial" panose="020B0604020202020204" pitchFamily="34" charset="0"/>
                        </a:rPr>
                        <a:t>Meandering compound </a:t>
                      </a:r>
                      <a:r>
                        <a:rPr lang="en-US" sz="1100" b="0" dirty="0" err="1">
                          <a:effectLst/>
                          <a:latin typeface="Arial" panose="020B0604020202020204" pitchFamily="34" charset="0"/>
                        </a:rPr>
                        <a:t>cahannels</a:t>
                      </a:r>
                      <a:r>
                        <a:rPr lang="en-US" sz="1100" b="0" dirty="0">
                          <a:effectLst/>
                          <a:latin typeface="Arial" panose="020B0604020202020204" pitchFamily="34" charset="0"/>
                        </a:rPr>
                        <a:t> with floodplains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Existing models (Horton, Pavlovskii, Lotter, KCM, etc.) + proposed dimensional-analysis model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869442"/>
                  </a:ext>
                </a:extLst>
              </a:tr>
              <a:tr h="577074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Yen (J. Hydraulic Engineering review)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2002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Theoretical review + example calculations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Compound/composite channels (general)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17 different composite-n equations catalogued (Horton, Einstein-Banks, Pavlovskii, Lotter, Cox, Colebatch, KCM, Yen variants, Felkel, etc.)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2651848"/>
                  </a:ext>
                </a:extLst>
              </a:tr>
              <a:tr h="432805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McAtee (SunCam course)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2012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Didactic — worked examples on idealized compound channels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Symmetric compound channel with floodplains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Pavlovskii, Lotter, Horton, Colebatch, Cox, Krishnamurthy-Christensen, Yen (R^1/6), Segmented Conveyance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833615"/>
                  </a:ext>
                </a:extLst>
              </a:tr>
              <a:tr h="288537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Ghareh Aghaji Zare et al. (Water Resources Research)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2016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Field — Lower Nelson River, Manitoba, Canada (ice-covered)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Ice-covered river (composite: bed + ice boundary)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Sabaneev, Pavlovskii, Lotter, Larsen, Uzuner, + proposed new approach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0483324"/>
                  </a:ext>
                </a:extLst>
              </a:tr>
              <a:tr h="288537"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Pradhan et al. (J. Hydrology, NCRM)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2024/2025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Laboratory — UK FCF data + multiple lab datasets with differential roughness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Straight &amp; meandering compound channels with varying roughness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en-US" sz="1100" b="0">
                          <a:effectLst/>
                          <a:latin typeface="Arial" panose="020B0604020202020204" pitchFamily="34" charset="0"/>
                        </a:rPr>
                        <a:t>Cox, Einstein-Banks, Lotter, Das-Khatua, + proposed NCRM</a:t>
                      </a: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265342"/>
                  </a:ext>
                </a:extLst>
              </a:tr>
              <a:tr h="288537">
                <a:tc>
                  <a:txBody>
                    <a:bodyPr/>
                    <a:lstStyle/>
                    <a:p>
                      <a:pPr rtl="0" fontAlgn="t"/>
                      <a:endParaRPr lang="en-US" sz="11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50" marR="12250" marT="0" marB="0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 b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endParaRPr lang="en-US" sz="1100" b="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2250" marR="12250" marT="0" marB="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2091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772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48B935B-3EBA-7907-CF6A-2432247B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43" y="255932"/>
            <a:ext cx="8528222" cy="631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96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1D9679-425F-8D92-BA0C-27163F87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99" y="201371"/>
            <a:ext cx="8959225" cy="655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4293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9E97C6-5306-D2B6-383E-44579B7AC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90" y="423804"/>
            <a:ext cx="9838087" cy="5849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47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CED28A-9049-5BE3-A48B-03CF96179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32" y="686263"/>
            <a:ext cx="9528309" cy="587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72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2450E0-F662-5C93-F266-20E85251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44336"/>
            <a:ext cx="8419560" cy="438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652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0C0A63-DE12-9635-3C66-D7A5D7A20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770" y="506279"/>
            <a:ext cx="11459168" cy="5845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82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FC199C-250A-53FD-FA99-2951C03C2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89" y="335438"/>
            <a:ext cx="11572622" cy="590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792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FB5C9B-C1DE-C958-33A4-73D04E8BB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91" y="304529"/>
            <a:ext cx="8427333" cy="624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421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54AF1A-0F49-9A9D-9951-D7B706B59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65" y="503767"/>
            <a:ext cx="8065549" cy="59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137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C98D88-8B1B-6ED5-C0C6-20FC6B302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41" y="730763"/>
            <a:ext cx="9248079" cy="490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449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37F8D5-FB2F-7C52-64C2-8E6C8A2C6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34" y="902985"/>
            <a:ext cx="8319820" cy="439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9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F8C4-F1D6-DC65-2C8B-156732D0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A2807-CA72-A7D9-D17C-BD99E93E2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Flux balance </a:t>
            </a:r>
            <a:r>
              <a:rPr lang="en-US" dirty="0">
                <a:sym typeface="Wingdings" pitchFamily="2" charset="2"/>
              </a:rPr>
              <a:t> Lotter equation. 	</a:t>
            </a:r>
          </a:p>
          <a:p>
            <a:pPr lvl="1"/>
            <a:r>
              <a:rPr lang="en-US" dirty="0">
                <a:sym typeface="Wingdings" pitchFamily="2" charset="2"/>
              </a:rPr>
              <a:t>The answer depends on whether h and U are the same between bare and vegetation patches.  Analogy to pipe flow.</a:t>
            </a:r>
          </a:p>
          <a:p>
            <a:pPr lvl="1"/>
            <a:r>
              <a:rPr lang="en-US" dirty="0">
                <a:sym typeface="Wingdings" pitchFamily="2" charset="2"/>
              </a:rPr>
              <a:t>Different answer in overland flow, because h and U are different.  </a:t>
            </a:r>
          </a:p>
          <a:p>
            <a:pPr lvl="1"/>
            <a:endParaRPr lang="en-US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639272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09FE88-CC6A-EAE2-7E14-6895D186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43" y="606427"/>
            <a:ext cx="4796481" cy="40644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1E1961-1470-3E02-9550-8316A1143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9664"/>
            <a:ext cx="5323703" cy="447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069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F6A626-1673-16E7-9882-DE6F40932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6" y="0"/>
            <a:ext cx="6425396" cy="5713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7013C8-D3B5-8054-DA4F-96046B33F1F1}"/>
              </a:ext>
            </a:extLst>
          </p:cNvPr>
          <p:cNvSpPr txBox="1"/>
          <p:nvPr/>
        </p:nvSpPr>
        <p:spPr>
          <a:xfrm>
            <a:off x="6874476" y="2833988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307931-0880-BF43-A278-811CC5202244}"/>
              </a:ext>
            </a:extLst>
          </p:cNvPr>
          <p:cNvSpPr txBox="1"/>
          <p:nvPr/>
        </p:nvSpPr>
        <p:spPr>
          <a:xfrm>
            <a:off x="6874476" y="3206069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average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67D757-7683-D468-5F19-9D9A9FA86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5141" y="4099098"/>
            <a:ext cx="4737449" cy="2228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9EAC5E-09EB-F7CC-197D-47E71550948E}"/>
              </a:ext>
            </a:extLst>
          </p:cNvPr>
          <p:cNvSpPr txBox="1"/>
          <p:nvPr/>
        </p:nvSpPr>
        <p:spPr>
          <a:xfrm>
            <a:off x="10880241" y="6142595"/>
            <a:ext cx="922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Nah</a:t>
            </a:r>
          </a:p>
        </p:txBody>
      </p:sp>
    </p:spTree>
    <p:extLst>
      <p:ext uri="{BB962C8B-B14F-4D97-AF65-F5344CB8AC3E}">
        <p14:creationId xmlns:p14="http://schemas.microsoft.com/office/powerpoint/2010/main" val="25994471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9ABCA-E01B-3748-A08E-6116664A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cs typeface="Calibri" panose="020F0502020204030204" pitchFamily="34" charset="0"/>
              </a:rPr>
              <a:t>What can tracers tell us?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368FD659-63B2-B04E-99EB-3DBEE75A6C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37" b="3783"/>
          <a:stretch/>
        </p:blipFill>
        <p:spPr bwMode="auto">
          <a:xfrm>
            <a:off x="4150180" y="2659658"/>
            <a:ext cx="4640525" cy="3298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>
            <a:extLst>
              <a:ext uri="{FF2B5EF4-FFF2-40B4-BE49-F238E27FC236}">
                <a16:creationId xmlns:a16="http://schemas.microsoft.com/office/drawing/2014/main" id="{EF6E7296-B395-9A41-8726-8CAE0B35EF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9" t="20269" r="14164" b="3975"/>
          <a:stretch/>
        </p:blipFill>
        <p:spPr bwMode="auto">
          <a:xfrm>
            <a:off x="8037974" y="2543832"/>
            <a:ext cx="3315826" cy="3419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992A822-3897-2942-BB57-E20A7E9E66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2604" y="4182455"/>
            <a:ext cx="821421" cy="80826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A136F94-291B-8846-A717-947F37D91F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368" y="3942974"/>
            <a:ext cx="728673" cy="71700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2B7C6A2-876C-5045-A7C0-2FFBB98634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9363" y="3757255"/>
            <a:ext cx="870344" cy="856408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9351A1-8AAA-364F-906A-BA743D878D3A}"/>
              </a:ext>
            </a:extLst>
          </p:cNvPr>
          <p:cNvCxnSpPr>
            <a:cxnSpLocks/>
          </p:cNvCxnSpPr>
          <p:nvPr/>
        </p:nvCxnSpPr>
        <p:spPr>
          <a:xfrm>
            <a:off x="954178" y="4127476"/>
            <a:ext cx="3578596" cy="1025441"/>
          </a:xfrm>
          <a:prstGeom prst="line">
            <a:avLst/>
          </a:prstGeom>
          <a:ln w="635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 28">
            <a:extLst>
              <a:ext uri="{FF2B5EF4-FFF2-40B4-BE49-F238E27FC236}">
                <a16:creationId xmlns:a16="http://schemas.microsoft.com/office/drawing/2014/main" id="{DBB72604-66F2-B048-9854-79E9712F157F}"/>
              </a:ext>
            </a:extLst>
          </p:cNvPr>
          <p:cNvSpPr/>
          <p:nvPr/>
        </p:nvSpPr>
        <p:spPr>
          <a:xfrm rot="1523250">
            <a:off x="2027909" y="4251223"/>
            <a:ext cx="624633" cy="219893"/>
          </a:xfrm>
          <a:custGeom>
            <a:avLst/>
            <a:gdLst>
              <a:gd name="connsiteX0" fmla="*/ 0 w 450166"/>
              <a:gd name="connsiteY0" fmla="*/ 197229 h 197229"/>
              <a:gd name="connsiteX1" fmla="*/ 182880 w 450166"/>
              <a:gd name="connsiteY1" fmla="*/ 281 h 197229"/>
              <a:gd name="connsiteX2" fmla="*/ 450166 w 450166"/>
              <a:gd name="connsiteY2" fmla="*/ 155026 h 19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0166" h="197229">
                <a:moveTo>
                  <a:pt x="0" y="197229"/>
                </a:moveTo>
                <a:cubicBezTo>
                  <a:pt x="53926" y="102272"/>
                  <a:pt x="107852" y="7315"/>
                  <a:pt x="182880" y="281"/>
                </a:cubicBezTo>
                <a:cubicBezTo>
                  <a:pt x="257908" y="-6753"/>
                  <a:pt x="400929" y="119857"/>
                  <a:pt x="450166" y="155026"/>
                </a:cubicBezTo>
              </a:path>
            </a:pathLst>
          </a:custGeom>
          <a:noFill/>
          <a:ln w="76200">
            <a:solidFill>
              <a:srgbClr val="D6C995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74D0562-148F-4B41-B4FB-0A76EDA26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046" y="3369544"/>
            <a:ext cx="826138" cy="812910"/>
          </a:xfrm>
          <a:prstGeom prst="rect">
            <a:avLst/>
          </a:prstGeom>
        </p:spPr>
      </p:pic>
      <p:pic>
        <p:nvPicPr>
          <p:cNvPr id="31" name="Picture 30" descr="c890a87417fbbcaa25401638e23ee4b0.png">
            <a:extLst>
              <a:ext uri="{FF2B5EF4-FFF2-40B4-BE49-F238E27FC236}">
                <a16:creationId xmlns:a16="http://schemas.microsoft.com/office/drawing/2014/main" id="{63C3864C-7423-3F4C-B540-AA86AD4BEA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6850" y="2345696"/>
            <a:ext cx="1648517" cy="972918"/>
          </a:xfrm>
          <a:prstGeom prst="rect">
            <a:avLst/>
          </a:prstGeom>
        </p:spPr>
      </p:pic>
      <p:sp>
        <p:nvSpPr>
          <p:cNvPr id="32" name="Freeform 31">
            <a:extLst>
              <a:ext uri="{FF2B5EF4-FFF2-40B4-BE49-F238E27FC236}">
                <a16:creationId xmlns:a16="http://schemas.microsoft.com/office/drawing/2014/main" id="{3E180BFF-8DE4-AD4B-A2D3-9FDDD5688927}"/>
              </a:ext>
            </a:extLst>
          </p:cNvPr>
          <p:cNvSpPr/>
          <p:nvPr/>
        </p:nvSpPr>
        <p:spPr>
          <a:xfrm rot="1037761">
            <a:off x="3133772" y="4818380"/>
            <a:ext cx="1603626" cy="162511"/>
          </a:xfrm>
          <a:custGeom>
            <a:avLst/>
            <a:gdLst>
              <a:gd name="connsiteX0" fmla="*/ 0 w 450166"/>
              <a:gd name="connsiteY0" fmla="*/ 197229 h 197229"/>
              <a:gd name="connsiteX1" fmla="*/ 182880 w 450166"/>
              <a:gd name="connsiteY1" fmla="*/ 281 h 197229"/>
              <a:gd name="connsiteX2" fmla="*/ 450166 w 450166"/>
              <a:gd name="connsiteY2" fmla="*/ 155026 h 197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0166" h="197229">
                <a:moveTo>
                  <a:pt x="0" y="197229"/>
                </a:moveTo>
                <a:cubicBezTo>
                  <a:pt x="53926" y="102272"/>
                  <a:pt x="107852" y="7315"/>
                  <a:pt x="182880" y="281"/>
                </a:cubicBezTo>
                <a:cubicBezTo>
                  <a:pt x="257908" y="-6753"/>
                  <a:pt x="400929" y="119857"/>
                  <a:pt x="450166" y="155026"/>
                </a:cubicBezTo>
              </a:path>
            </a:pathLst>
          </a:custGeom>
          <a:noFill/>
          <a:ln w="76200">
            <a:solidFill>
              <a:srgbClr val="839DC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8BD552-E89A-BD47-9C4C-DE001E718C39}"/>
                  </a:ext>
                </a:extLst>
              </p:cNvPr>
              <p:cNvSpPr txBox="1"/>
              <p:nvPr/>
            </p:nvSpPr>
            <p:spPr>
              <a:xfrm>
                <a:off x="5179835" y="5733429"/>
                <a:ext cx="2369278" cy="8532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𝑖𝑛𝑓𝑙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0.25</a:t>
                </a:r>
              </a:p>
              <a:p>
                <a:r>
                  <a:rPr lang="en-AU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Average source-sink path length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8BD552-E89A-BD47-9C4C-DE001E718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835" y="5733429"/>
                <a:ext cx="2369278" cy="853247"/>
              </a:xfrm>
              <a:prstGeom prst="rect">
                <a:avLst/>
              </a:prstGeom>
              <a:blipFill>
                <a:blip r:embed="rId10"/>
                <a:stretch>
                  <a:fillRect l="-6417" t="-8824" r="-641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08A69257-5EA5-4447-89DC-B2C643F8E48C}"/>
              </a:ext>
            </a:extLst>
          </p:cNvPr>
          <p:cNvSpPr txBox="1"/>
          <p:nvPr/>
        </p:nvSpPr>
        <p:spPr>
          <a:xfrm>
            <a:off x="1161778" y="4505765"/>
            <a:ext cx="1544838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b="0" dirty="0">
                <a:cs typeface="Calibri" panose="020F0502020204030204" pitchFamily="34" charset="0"/>
              </a:rPr>
              <a:t>Some tracers are ‘captured’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EDF1D9-5240-4549-9252-B0E02F8913A4}"/>
              </a:ext>
            </a:extLst>
          </p:cNvPr>
          <p:cNvSpPr txBox="1"/>
          <p:nvPr/>
        </p:nvSpPr>
        <p:spPr>
          <a:xfrm>
            <a:off x="838200" y="1777405"/>
            <a:ext cx="6094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Tracers = ‘tagged’ water parcels advected by the flow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5FAD1-F8CC-114A-B7B1-66E2838C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0D0A-380A-7D46-BE07-D001ECDDF626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t>29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F6FB6E-B4F9-D142-BA83-8C19E06B1543}"/>
              </a:ext>
            </a:extLst>
          </p:cNvPr>
          <p:cNvSpPr txBox="1"/>
          <p:nvPr/>
        </p:nvSpPr>
        <p:spPr>
          <a:xfrm>
            <a:off x="3254688" y="5014119"/>
            <a:ext cx="127808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b="0" dirty="0">
                <a:cs typeface="Calibri" panose="020F0502020204030204" pitchFamily="34" charset="0"/>
              </a:rPr>
              <a:t>Others ‘escape’ the hillslope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40642E-9FC1-3046-8819-6A4FB60AD12B}"/>
              </a:ext>
            </a:extLst>
          </p:cNvPr>
          <p:cNvSpPr txBox="1"/>
          <p:nvPr/>
        </p:nvSpPr>
        <p:spPr>
          <a:xfrm>
            <a:off x="4811877" y="2490032"/>
            <a:ext cx="27372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b="0" dirty="0">
                <a:cs typeface="Calibri" panose="020F0502020204030204" pitchFamily="34" charset="0"/>
              </a:rPr>
              <a:t>Paths captured tracers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3CAB2-8B17-F642-A478-52FF6D86D721}"/>
              </a:ext>
            </a:extLst>
          </p:cNvPr>
          <p:cNvSpPr txBox="1"/>
          <p:nvPr/>
        </p:nvSpPr>
        <p:spPr>
          <a:xfrm>
            <a:off x="8037974" y="2491477"/>
            <a:ext cx="2737236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AU" b="0" dirty="0">
                <a:cs typeface="Calibri" panose="020F0502020204030204" pitchFamily="34" charset="0"/>
              </a:rPr>
              <a:t>Paths of escaped tracers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EBD042-FFF9-6942-9E97-7A9E76A388E9}"/>
                  </a:ext>
                </a:extLst>
              </p:cNvPr>
              <p:cNvSpPr txBox="1"/>
              <p:nvPr/>
            </p:nvSpPr>
            <p:spPr>
              <a:xfrm>
                <a:off x="8423415" y="5733429"/>
                <a:ext cx="2743200" cy="83099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0.44</a:t>
                </a:r>
              </a:p>
              <a:p>
                <a:r>
                  <a:rPr lang="en-AU" b="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Average source-outlet path length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EBD042-FFF9-6942-9E97-7A9E76A38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415" y="5733429"/>
                <a:ext cx="2743200" cy="830997"/>
              </a:xfrm>
              <a:prstGeom prst="rect">
                <a:avLst/>
              </a:prstGeom>
              <a:blipFill>
                <a:blip r:embed="rId11"/>
                <a:stretch>
                  <a:fillRect l="-5530" t="-9091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4459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>
            <a:extLst>
              <a:ext uri="{FF2B5EF4-FFF2-40B4-BE49-F238E27FC236}">
                <a16:creationId xmlns:a16="http://schemas.microsoft.com/office/drawing/2014/main" id="{F51AA043-39F6-FE40-B171-2730E84A1E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39" t="20269" r="19427" b="3975"/>
          <a:stretch/>
        </p:blipFill>
        <p:spPr bwMode="auto">
          <a:xfrm>
            <a:off x="2017479" y="3505402"/>
            <a:ext cx="2954567" cy="3006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311BE672-6094-9B4A-A8FC-5EB60BF09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79" y="764653"/>
            <a:ext cx="4208570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849D8CCB-37E6-8F42-8D43-BC1BBDCE2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828" y="764653"/>
            <a:ext cx="4096343" cy="26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4C8B0E-9BF7-5A47-864D-27B1334FFCFF}"/>
                  </a:ext>
                </a:extLst>
              </p:cNvPr>
              <p:cNvSpPr txBox="1"/>
              <p:nvPr/>
            </p:nvSpPr>
            <p:spPr>
              <a:xfrm flipH="1">
                <a:off x="1059006" y="595689"/>
                <a:ext cx="4571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AU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34C8B0E-9BF7-5A47-864D-27B1334FF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59006" y="595689"/>
                <a:ext cx="45719" cy="307777"/>
              </a:xfrm>
              <a:prstGeom prst="rect">
                <a:avLst/>
              </a:prstGeom>
              <a:blipFill>
                <a:blip r:embed="rId9"/>
                <a:stretch>
                  <a:fillRect l="-175000" r="-400000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DC8D1F-CFCD-C243-8B1B-87F712D04813}"/>
                  </a:ext>
                </a:extLst>
              </p:cNvPr>
              <p:cNvSpPr txBox="1"/>
              <p:nvPr/>
            </p:nvSpPr>
            <p:spPr>
              <a:xfrm>
                <a:off x="4329862" y="595689"/>
                <a:ext cx="2180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sz="2000" b="0" i="0" smtClean="0">
                          <a:latin typeface="Cambria Math" panose="02040503050406030204" pitchFamily="18" charset="0"/>
                        </a:rPr>
                        <m:t>B</m:t>
                      </m:r>
                    </m:oMath>
                  </m:oMathPara>
                </a14:m>
                <a:endParaRPr lang="en-AU" sz="2000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3DC8D1F-CFCD-C243-8B1B-87F712D04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862" y="595689"/>
                <a:ext cx="218008" cy="307777"/>
              </a:xfrm>
              <a:prstGeom prst="rect">
                <a:avLst/>
              </a:prstGeom>
              <a:blipFill>
                <a:blip r:embed="rId10"/>
                <a:stretch>
                  <a:fillRect l="-21053" r="-21053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B23D8067-4FC2-0A4B-A5C0-9D1550CE95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7" t="21837" b="3783"/>
          <a:stretch/>
        </p:blipFill>
        <p:spPr bwMode="auto">
          <a:xfrm>
            <a:off x="5246369" y="3611883"/>
            <a:ext cx="3803777" cy="289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0B07ACE-7883-684C-8EC8-46ED20BFA1E6}"/>
              </a:ext>
            </a:extLst>
          </p:cNvPr>
          <p:cNvGrpSpPr/>
          <p:nvPr/>
        </p:nvGrpSpPr>
        <p:grpSpPr>
          <a:xfrm>
            <a:off x="7303251" y="595689"/>
            <a:ext cx="4640565" cy="4145406"/>
            <a:chOff x="7303251" y="595689"/>
            <a:chExt cx="4640565" cy="4145406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5504B5C0-B5F4-3446-B3C7-CA579B30C9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03251" y="764653"/>
              <a:ext cx="4242855" cy="27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98CBF35-AE6D-FE45-A2AD-6E78D2E333D4}"/>
                    </a:ext>
                  </a:extLst>
                </p:cNvPr>
                <p:cNvSpPr txBox="1"/>
                <p:nvPr/>
              </p:nvSpPr>
              <p:spPr>
                <a:xfrm>
                  <a:off x="7655446" y="595689"/>
                  <a:ext cx="157989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AU" sz="2000" b="0" i="0" smtClean="0"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m:oMathPara>
                  </a14:m>
                  <a:endParaRPr lang="en-AU" sz="2000" b="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98CBF35-AE6D-FE45-A2AD-6E78D2E33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5446" y="595689"/>
                  <a:ext cx="157989" cy="307777"/>
                </a:xfrm>
                <a:prstGeom prst="rect">
                  <a:avLst/>
                </a:prstGeom>
                <a:blipFill>
                  <a:blip r:embed="rId13"/>
                  <a:stretch>
                    <a:fillRect l="-42857" r="-42857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3978EB1-3B0C-B44D-B18B-C6FF44DC90A4}"/>
                </a:ext>
              </a:extLst>
            </p:cNvPr>
            <p:cNvSpPr txBox="1"/>
            <p:nvPr/>
          </p:nvSpPr>
          <p:spPr>
            <a:xfrm>
              <a:off x="8405225" y="3633099"/>
              <a:ext cx="3538591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Why aren’t the ‘infiltrating’ tracers traveling as far as the escaping ones? 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6966E5-E3AB-8649-B81C-D8885E198C81}"/>
              </a:ext>
            </a:extLst>
          </p:cNvPr>
          <p:cNvCxnSpPr>
            <a:cxnSpLocks/>
          </p:cNvCxnSpPr>
          <p:nvPr/>
        </p:nvCxnSpPr>
        <p:spPr>
          <a:xfrm flipV="1">
            <a:off x="2663190" y="3429000"/>
            <a:ext cx="0" cy="408199"/>
          </a:xfrm>
          <a:prstGeom prst="straightConnector1">
            <a:avLst/>
          </a:prstGeom>
          <a:ln w="53975">
            <a:solidFill>
              <a:schemeClr val="accent1">
                <a:alpha val="4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05D44E-B222-5641-B7D6-5BBEA6A8FB91}"/>
              </a:ext>
            </a:extLst>
          </p:cNvPr>
          <p:cNvCxnSpPr>
            <a:cxnSpLocks/>
          </p:cNvCxnSpPr>
          <p:nvPr/>
        </p:nvCxnSpPr>
        <p:spPr>
          <a:xfrm flipV="1">
            <a:off x="5977890" y="3456257"/>
            <a:ext cx="0" cy="408199"/>
          </a:xfrm>
          <a:prstGeom prst="straightConnector1">
            <a:avLst/>
          </a:prstGeom>
          <a:ln w="53975">
            <a:solidFill>
              <a:schemeClr val="accent1">
                <a:alpha val="42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A23D055-3451-1544-A09F-79B098B8025A}"/>
              </a:ext>
            </a:extLst>
          </p:cNvPr>
          <p:cNvSpPr txBox="1"/>
          <p:nvPr/>
        </p:nvSpPr>
        <p:spPr>
          <a:xfrm>
            <a:off x="1254983" y="3420996"/>
            <a:ext cx="128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Tracers that escape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28396-513E-964B-8A9C-9E27797F6259}"/>
              </a:ext>
            </a:extLst>
          </p:cNvPr>
          <p:cNvSpPr txBox="1"/>
          <p:nvPr/>
        </p:nvSpPr>
        <p:spPr>
          <a:xfrm>
            <a:off x="4539169" y="3420996"/>
            <a:ext cx="128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Tracers that infiltrate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2F2ECB-79B7-1F4D-8668-D1173BB8B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0D0A-380A-7D46-BE07-D001ECDDF626}" type="slidenum">
              <a:rPr lang="en-US" smtClean="0"/>
              <a:t>30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8469E7-60DD-4540-80E6-187E25F921DB}"/>
              </a:ext>
            </a:extLst>
          </p:cNvPr>
          <p:cNvSpPr txBox="1"/>
          <p:nvPr/>
        </p:nvSpPr>
        <p:spPr>
          <a:xfrm rot="16200000">
            <a:off x="-158269" y="1697960"/>
            <a:ext cx="194687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Runoff coefficient, </a:t>
            </a:r>
            <a:r>
              <a:rPr lang="en-US" sz="1600" i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FA4241-D489-7347-A810-D78054EF25F8}"/>
              </a:ext>
            </a:extLst>
          </p:cNvPr>
          <p:cNvSpPr txBox="1"/>
          <p:nvPr/>
        </p:nvSpPr>
        <p:spPr>
          <a:xfrm rot="16200000">
            <a:off x="3138174" y="1633431"/>
            <a:ext cx="1946879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Runoff coefficient, </a:t>
            </a:r>
            <a:r>
              <a:rPr lang="en-US" sz="1600" i="1" dirty="0"/>
              <a:t>C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115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5" grpId="0"/>
      <p:bldP spid="21" grpId="0" animBg="1"/>
    </p:bldLst>
  </p:timing>
  <p:extLst>
    <p:ext uri="{6950BFC3-D8DA-4A85-94F7-54DA5524770B}">
      <p188:commentRel xmlns:p188="http://schemas.microsoft.com/office/powerpoint/2018/8/main" r:id="rId4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21A56ACF-2FC9-9347-B7BA-0AC11DE65913}"/>
              </a:ext>
            </a:extLst>
          </p:cNvPr>
          <p:cNvGrpSpPr/>
          <p:nvPr/>
        </p:nvGrpSpPr>
        <p:grpSpPr>
          <a:xfrm>
            <a:off x="1104426" y="1542336"/>
            <a:ext cx="3748928" cy="2822901"/>
            <a:chOff x="1397253" y="1690688"/>
            <a:chExt cx="3748928" cy="2822901"/>
          </a:xfrm>
        </p:grpSpPr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11480F2F-7E83-DA44-8981-1B3B77CA77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39" t="20269" b="3975"/>
            <a:stretch/>
          </p:blipFill>
          <p:spPr bwMode="auto">
            <a:xfrm>
              <a:off x="1397253" y="1690688"/>
              <a:ext cx="3604594" cy="2822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56915F9-09A4-3542-BB15-7E1A43692EAA}"/>
                </a:ext>
              </a:extLst>
            </p:cNvPr>
            <p:cNvCxnSpPr/>
            <p:nvPr/>
          </p:nvCxnSpPr>
          <p:spPr>
            <a:xfrm flipH="1">
              <a:off x="3752285" y="3663462"/>
              <a:ext cx="321733" cy="397933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3397CC-739C-2C43-B02D-E0A5930F1C9C}"/>
                </a:ext>
              </a:extLst>
            </p:cNvPr>
            <p:cNvSpPr txBox="1"/>
            <p:nvPr/>
          </p:nvSpPr>
          <p:spPr>
            <a:xfrm>
              <a:off x="3913151" y="3802404"/>
              <a:ext cx="12330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/>
                <a:t>y-</a:t>
              </a:r>
              <a:r>
                <a:rPr lang="en-US" dirty="0"/>
                <a:t>position</a:t>
              </a:r>
            </a:p>
          </p:txBody>
        </p:sp>
      </p:grpSp>
      <p:pic>
        <p:nvPicPr>
          <p:cNvPr id="9" name="Picture 4">
            <a:extLst>
              <a:ext uri="{FF2B5EF4-FFF2-40B4-BE49-F238E27FC236}">
                <a16:creationId xmlns:a16="http://schemas.microsoft.com/office/drawing/2014/main" id="{87C8180F-65FB-6841-8DAE-2F301D79E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874" y="2473150"/>
            <a:ext cx="4242857" cy="27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76C8D8-B46B-E542-A5B8-2D359A64AB4E}"/>
              </a:ext>
            </a:extLst>
          </p:cNvPr>
          <p:cNvSpPr txBox="1"/>
          <p:nvPr/>
        </p:nvSpPr>
        <p:spPr>
          <a:xfrm>
            <a:off x="1082069" y="4757883"/>
            <a:ext cx="4537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Tortuosity  measure </a:t>
            </a:r>
            <a:r>
              <a:rPr lang="en-US" sz="2000" i="1" dirty="0" err="1"/>
              <a:t>η</a:t>
            </a:r>
            <a:r>
              <a:rPr lang="en-US" sz="2000" i="1" dirty="0"/>
              <a:t>  </a:t>
            </a:r>
            <a:r>
              <a:rPr lang="en-US" sz="2000" dirty="0"/>
              <a:t>describes tracer paths:</a:t>
            </a:r>
            <a:endParaRPr lang="en-US" sz="2000" i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69AF7-F16F-6F47-89B7-93EE9ABE4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14695"/>
            <a:ext cx="9009185" cy="535891"/>
          </a:xfrm>
        </p:spPr>
        <p:txBody>
          <a:bodyPr>
            <a:noAutofit/>
          </a:bodyPr>
          <a:lstStyle/>
          <a:p>
            <a:r>
              <a:rPr lang="en-US" sz="3600" dirty="0"/>
              <a:t>Why do the tracers that escape travel farther than those that infiltrate?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D44109-2C94-EC43-80B8-B1616E51C56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675" b="-1"/>
          <a:stretch/>
        </p:blipFill>
        <p:spPr>
          <a:xfrm>
            <a:off x="2644343" y="5319726"/>
            <a:ext cx="2348200" cy="10242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86CA5C-7627-164C-9F27-D6665636D198}"/>
              </a:ext>
            </a:extLst>
          </p:cNvPr>
          <p:cNvSpPr/>
          <p:nvPr/>
        </p:nvSpPr>
        <p:spPr>
          <a:xfrm>
            <a:off x="5515088" y="1297228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4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65EB6C0-126F-C645-8181-B098F96AE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0D0A-380A-7D46-BE07-D001ECDDF626}" type="slidenum">
              <a:rPr lang="en-US" smtClean="0"/>
              <a:t>31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A7A551-5636-9F42-AF6D-FFFB503904DF}"/>
              </a:ext>
            </a:extLst>
          </p:cNvPr>
          <p:cNvSpPr txBox="1"/>
          <p:nvPr/>
        </p:nvSpPr>
        <p:spPr>
          <a:xfrm>
            <a:off x="6051670" y="1969925"/>
            <a:ext cx="22720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Difference in tracer travel distances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D3636C7-2625-284F-ADAB-F401EF870F84}"/>
              </a:ext>
            </a:extLst>
          </p:cNvPr>
          <p:cNvCxnSpPr>
            <a:cxnSpLocks/>
          </p:cNvCxnSpPr>
          <p:nvPr/>
        </p:nvCxnSpPr>
        <p:spPr>
          <a:xfrm>
            <a:off x="7028452" y="2715584"/>
            <a:ext cx="0" cy="4506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14F65BD-16E0-3B41-A30B-BA432B21AF83}"/>
              </a:ext>
            </a:extLst>
          </p:cNvPr>
          <p:cNvSpPr txBox="1"/>
          <p:nvPr/>
        </p:nvSpPr>
        <p:spPr>
          <a:xfrm>
            <a:off x="9262850" y="5473973"/>
            <a:ext cx="194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Storm duration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5572A5-E422-1342-A939-E437B9B85BD2}"/>
              </a:ext>
            </a:extLst>
          </p:cNvPr>
          <p:cNvCxnSpPr>
            <a:cxnSpLocks/>
          </p:cNvCxnSpPr>
          <p:nvPr/>
        </p:nvCxnSpPr>
        <p:spPr>
          <a:xfrm flipV="1">
            <a:off x="8349265" y="5173150"/>
            <a:ext cx="540000" cy="28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1DC8D7D-6F87-9A4C-9D89-D8DE1B784369}"/>
              </a:ext>
            </a:extLst>
          </p:cNvPr>
          <p:cNvCxnSpPr>
            <a:cxnSpLocks/>
          </p:cNvCxnSpPr>
          <p:nvPr/>
        </p:nvCxnSpPr>
        <p:spPr>
          <a:xfrm flipH="1" flipV="1">
            <a:off x="9177568" y="5173150"/>
            <a:ext cx="540000" cy="28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6199E23-488F-B745-BC2C-554FD5890969}"/>
              </a:ext>
            </a:extLst>
          </p:cNvPr>
          <p:cNvSpPr/>
          <p:nvPr/>
        </p:nvSpPr>
        <p:spPr>
          <a:xfrm>
            <a:off x="7378863" y="5448055"/>
            <a:ext cx="1122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Tortuosity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1140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45A9330-4888-C23F-945C-8BD68FB21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4012"/>
            <a:ext cx="12192000" cy="614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4324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654FBA52-1AD1-570C-C27E-847F762A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4013"/>
            <a:ext cx="12192000" cy="614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6657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40339508-9C64-947B-3F18-30F24F5CF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39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789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F757B46B-9D58-3F61-75B0-2CB790625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52" y="518225"/>
            <a:ext cx="7367143" cy="4977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6308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F8BA0A30-2A1B-7426-98FA-FD99B4F7CE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021"/>
          <a:stretch/>
        </p:blipFill>
        <p:spPr bwMode="auto">
          <a:xfrm>
            <a:off x="1077131" y="-1"/>
            <a:ext cx="706998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672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4D6845-E8AB-8C8B-C892-288F216C1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0" y="117975"/>
            <a:ext cx="6846213" cy="664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96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8F88CCE-EDDE-0209-056F-549A7EBF36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910"/>
          <a:stretch/>
        </p:blipFill>
        <p:spPr bwMode="auto">
          <a:xfrm>
            <a:off x="539989" y="47338"/>
            <a:ext cx="7042247" cy="6763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6668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03FB5FD3-6034-5483-2508-306D430CD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" t="9440" r="-250" b="-683"/>
          <a:stretch/>
        </p:blipFill>
        <p:spPr bwMode="auto">
          <a:xfrm>
            <a:off x="871555" y="222462"/>
            <a:ext cx="6471291" cy="9933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5657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9A558-EACF-77A4-6012-2F49C7A2E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35" y="303522"/>
            <a:ext cx="9120351" cy="40791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D48947-3522-A943-7D0F-F32F6BDF346C}"/>
              </a:ext>
            </a:extLst>
          </p:cNvPr>
          <p:cNvSpPr txBox="1"/>
          <p:nvPr/>
        </p:nvSpPr>
        <p:spPr>
          <a:xfrm>
            <a:off x="462456" y="4506806"/>
            <a:ext cx="643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Discharge expansion: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05D2E-9FF0-2DBA-F95B-E72AEAC012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772" y="5159916"/>
            <a:ext cx="3695700" cy="66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9B05BB-C6B9-C717-BDB8-1B6F94B2C5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041" y="5058593"/>
            <a:ext cx="6432331" cy="7617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D6FC3D-F605-1987-3E3C-803A9F376239}"/>
              </a:ext>
            </a:extLst>
          </p:cNvPr>
          <p:cNvSpPr txBox="1"/>
          <p:nvPr/>
        </p:nvSpPr>
        <p:spPr>
          <a:xfrm>
            <a:off x="4766443" y="4512054"/>
            <a:ext cx="643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Spatial expansion: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CFF397-0C09-80F8-A564-5D72E02CF8A8}"/>
              </a:ext>
            </a:extLst>
          </p:cNvPr>
          <p:cNvCxnSpPr>
            <a:cxnSpLocks/>
          </p:cNvCxnSpPr>
          <p:nvPr/>
        </p:nvCxnSpPr>
        <p:spPr>
          <a:xfrm flipH="1" flipV="1">
            <a:off x="3824121" y="5713315"/>
            <a:ext cx="865135" cy="298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B0D796-93F4-4224-F5EA-D3BAE8ADB2FD}"/>
              </a:ext>
            </a:extLst>
          </p:cNvPr>
          <p:cNvCxnSpPr>
            <a:cxnSpLocks/>
          </p:cNvCxnSpPr>
          <p:nvPr/>
        </p:nvCxnSpPr>
        <p:spPr>
          <a:xfrm flipV="1">
            <a:off x="5376041" y="5746717"/>
            <a:ext cx="3165583" cy="2590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A916143-8B68-BEA8-E4FA-1EB154DCF60A}"/>
              </a:ext>
            </a:extLst>
          </p:cNvPr>
          <p:cNvSpPr txBox="1"/>
          <p:nvPr/>
        </p:nvSpPr>
        <p:spPr>
          <a:xfrm>
            <a:off x="3311611" y="6264876"/>
            <a:ext cx="4374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 correlation between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A7B32D6-0196-3466-4181-E237489656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49879" y="126315"/>
            <a:ext cx="24765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998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BC451D3E-FB77-764A-38FD-A772CA183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05063"/>
            <a:ext cx="11251859" cy="6047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2837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2034AC22-EBB1-0F9E-BD6B-15C7505C5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1838"/>
            <a:ext cx="12192000" cy="539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3692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8701310F-C8D6-4DA3-D30F-2FF7364C7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1838"/>
            <a:ext cx="12192000" cy="539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432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20B1C63B-8763-0FB6-83C4-098DC4816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0"/>
            <a:ext cx="11753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01917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1|10.4|13.2|14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5|19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21922</TotalTime>
  <Words>1015</Words>
  <Application>Microsoft Macintosh PowerPoint</Application>
  <PresentationFormat>Widescreen</PresentationFormat>
  <Paragraphs>140</Paragraphs>
  <Slides>44</Slides>
  <Notes>8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What can tracers tell us?</vt:lpstr>
      <vt:lpstr>PowerPoint Presentation</vt:lpstr>
      <vt:lpstr>Why do the tracers that escape travel farther than those that infiltrate?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Octavia Crompton</dc:creator>
  <cp:lastModifiedBy>Octavia Crompton</cp:lastModifiedBy>
  <cp:revision>21</cp:revision>
  <dcterms:created xsi:type="dcterms:W3CDTF">2025-10-28T18:20:07Z</dcterms:created>
  <dcterms:modified xsi:type="dcterms:W3CDTF">2026-03-14T16:10:17Z</dcterms:modified>
</cp:coreProperties>
</file>