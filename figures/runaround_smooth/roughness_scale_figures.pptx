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59" r:id="rId4"/>
    <p:sldId id="270" r:id="rId5"/>
    <p:sldId id="260" r:id="rId6"/>
    <p:sldId id="261" r:id="rId7"/>
    <p:sldId id="274" r:id="rId8"/>
    <p:sldId id="272" r:id="rId9"/>
    <p:sldId id="262" r:id="rId10"/>
    <p:sldId id="273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27"/>
    <p:restoredTop sz="94694"/>
  </p:normalViewPr>
  <p:slideViewPr>
    <p:cSldViewPr snapToGrid="0" snapToObjects="1">
      <p:cViewPr>
        <p:scale>
          <a:sx n="174" d="100"/>
          <a:sy n="174" d="100"/>
        </p:scale>
        <p:origin x="-416" y="-5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1010" y="157655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 i="0"/>
            </a:pPr>
            <a:r>
              <a:rPr dirty="0"/>
              <a:t>Equivalent Roughness for Overland Flow</a:t>
            </a:r>
            <a:br>
              <a:rPr dirty="0"/>
            </a:br>
            <a:r>
              <a:rPr dirty="0"/>
              <a:t>on Heterogeneous Hillslopes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CED482-4501-25CA-EC9B-0A79239ABFA8}"/>
              </a:ext>
            </a:extLst>
          </p:cNvPr>
          <p:cNvSpPr txBox="1"/>
          <p:nvPr/>
        </p:nvSpPr>
        <p:spPr>
          <a:xfrm>
            <a:off x="492410" y="2296247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/>
            </a:pPr>
            <a:r>
              <a:rPr dirty="0"/>
              <a:t>Simulation Setup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854FB9-C4BD-9C8D-6FD6-E3A569EF912E}"/>
              </a:ext>
            </a:extLst>
          </p:cNvPr>
          <p:cNvSpPr txBox="1"/>
          <p:nvPr/>
        </p:nvSpPr>
        <p:spPr>
          <a:xfrm>
            <a:off x="6505904" y="3429000"/>
            <a:ext cx="6096000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/>
            </a:pPr>
            <a:r>
              <a:rPr lang="en-US" dirty="0"/>
              <a:t>Parameter Space</a:t>
            </a:r>
          </a:p>
          <a:p>
            <a:pPr>
              <a:defRPr sz="1700" b="0"/>
            </a:pPr>
            <a:r>
              <a:rPr lang="en-US" dirty="0"/>
              <a:t>Vegetation fraction fᵥ: 0.1 – 0.9</a:t>
            </a:r>
          </a:p>
          <a:p>
            <a:pPr>
              <a:defRPr sz="1700" b="0"/>
            </a:pPr>
            <a:r>
              <a:rPr lang="en-US" dirty="0"/>
              <a:t>Patch </a:t>
            </a:r>
            <a:r>
              <a:rPr lang="en-US" dirty="0" err="1"/>
              <a:t>lengthscale</a:t>
            </a:r>
            <a:r>
              <a:rPr lang="en-US" dirty="0"/>
              <a:t> </a:t>
            </a:r>
            <a:r>
              <a:rPr lang="el-GR" dirty="0"/>
              <a:t>σ (</a:t>
            </a:r>
            <a:r>
              <a:rPr lang="en-US" dirty="0"/>
              <a:t>Lᵥ): multiple levels</a:t>
            </a:r>
          </a:p>
          <a:p>
            <a:pPr>
              <a:defRPr sz="1700" b="0"/>
            </a:pPr>
            <a:r>
              <a:rPr lang="en-US" dirty="0"/>
              <a:t>Storm intensity p: 2 – 8 mm/</a:t>
            </a:r>
            <a:r>
              <a:rPr lang="en-US" dirty="0" err="1"/>
              <a:t>hr</a:t>
            </a:r>
            <a:endParaRPr lang="en-US" dirty="0"/>
          </a:p>
          <a:p>
            <a:pPr>
              <a:defRPr sz="1700" b="0"/>
            </a:pPr>
            <a:r>
              <a:rPr lang="en-US" dirty="0"/>
              <a:t>Storm duration tᵣ: 30 – 120 min</a:t>
            </a:r>
          </a:p>
          <a:p>
            <a:pPr>
              <a:defRPr sz="1700" b="0"/>
            </a:pPr>
            <a:r>
              <a:rPr lang="en-US" dirty="0"/>
              <a:t>Pattern anisotropy: isotropic + anisotropic</a:t>
            </a:r>
          </a:p>
          <a:p>
            <a:pPr>
              <a:defRPr sz="1700" b="0"/>
            </a:pPr>
            <a:r>
              <a:rPr lang="en-US" dirty="0"/>
              <a:t>Hundreds of unique simulations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054255-7F5C-6B30-A5E6-B42A7259A6C7}"/>
              </a:ext>
            </a:extLst>
          </p:cNvPr>
          <p:cNvSpPr txBox="1"/>
          <p:nvPr/>
        </p:nvSpPr>
        <p:spPr>
          <a:xfrm>
            <a:off x="721010" y="3429000"/>
            <a:ext cx="484947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/>
            </a:pPr>
            <a:r>
              <a:rPr lang="en-US" dirty="0"/>
              <a:t>Domain &amp; Physics</a:t>
            </a:r>
          </a:p>
          <a:p>
            <a:pPr marL="285750" indent="-285750">
              <a:buFont typeface="Arial" panose="020B0604020202020204" pitchFamily="34" charset="0"/>
              <a:buChar char="•"/>
              <a:defRPr sz="1700" b="0"/>
            </a:pPr>
            <a:r>
              <a:rPr lang="en-US" dirty="0"/>
              <a:t>1-D hillslope, full Saint-</a:t>
            </a:r>
            <a:r>
              <a:rPr lang="en-US" dirty="0" err="1"/>
              <a:t>Venant</a:t>
            </a:r>
            <a:r>
              <a:rPr lang="en-US" dirty="0"/>
              <a:t> equations</a:t>
            </a:r>
          </a:p>
          <a:p>
            <a:pPr marL="285750" indent="-285750">
              <a:buFont typeface="Arial" panose="020B0604020202020204" pitchFamily="34" charset="0"/>
              <a:buChar char="•"/>
              <a:defRPr sz="1700" b="0"/>
            </a:pPr>
            <a:r>
              <a:rPr lang="en-US" dirty="0"/>
              <a:t>Binary roughness: nᵥ (vegetation) and nₒ (bare)</a:t>
            </a:r>
          </a:p>
          <a:p>
            <a:pPr marL="285750" indent="-285750">
              <a:buFont typeface="Arial" panose="020B0604020202020204" pitchFamily="34" charset="0"/>
              <a:buChar char="•"/>
              <a:defRPr sz="1700" b="0"/>
            </a:pPr>
            <a:r>
              <a:rPr lang="en-US" dirty="0"/>
              <a:t>Hydrograph matching → nₑ for each simulation</a:t>
            </a:r>
          </a:p>
          <a:p>
            <a:pPr marL="285750" indent="-285750">
              <a:buFont typeface="Arial" panose="020B0604020202020204" pitchFamily="34" charset="0"/>
              <a:buChar char="•"/>
              <a:defRPr sz="1700" b="0"/>
            </a:pPr>
            <a:r>
              <a:rPr lang="en-US" dirty="0"/>
              <a:t>Smooth bed topography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A649C1-E42A-BA61-B90B-9A4E43DB1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920115"/>
            <a:ext cx="8832463" cy="378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045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0972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/>
            </a:pPr>
            <a:r>
              <a:t>Fig 1</a:t>
            </a:r>
          </a:p>
        </p:txBody>
      </p:sp>
      <p:pic>
        <p:nvPicPr>
          <p:cNvPr id="3" name="Picture 2" descr="fig1_conceptual_sketch.png"/>
          <p:cNvPicPr>
            <a:picLocks noChangeAspect="1"/>
          </p:cNvPicPr>
          <p:nvPr/>
        </p:nvPicPr>
        <p:blipFill rotWithShape="1">
          <a:blip r:embed="rId2"/>
          <a:srcRect t="12174"/>
          <a:stretch/>
        </p:blipFill>
        <p:spPr>
          <a:xfrm>
            <a:off x="1119787" y="313779"/>
            <a:ext cx="8645199" cy="58884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02200"/>
            <a:ext cx="1146017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rPr dirty="0"/>
              <a:t>Conceptual sketch illustrating the equivalent-roughness problem on a heterogeneous hillslope</a:t>
            </a:r>
            <a:r>
              <a:rPr lang="en-US" dirty="0"/>
              <a:t>.</a:t>
            </a:r>
            <a:r>
              <a:rPr dirty="0"/>
              <a:t> Panel (a) shows the patchy surface, </a:t>
            </a:r>
            <a:endParaRPr lang="en-US" dirty="0"/>
          </a:p>
          <a:p>
            <a:pPr>
              <a:defRPr sz="1100" i="1"/>
            </a:pPr>
            <a:r>
              <a:rPr dirty="0"/>
              <a:t>(b) the uniform-roughness stack, and (c) the matched hydrograph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55F77A-521A-2BC4-8A8D-B6DE05D0C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68" y="167054"/>
            <a:ext cx="9209914" cy="32427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4F4AB32-F6FA-BBFE-D694-78EF94016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168" y="3615295"/>
            <a:ext cx="9209914" cy="324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156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0972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/>
            </a:pPr>
            <a:r>
              <a:rPr dirty="0"/>
              <a:t>Fig 2</a:t>
            </a:r>
          </a:p>
        </p:txBody>
      </p:sp>
      <p:pic>
        <p:nvPicPr>
          <p:cNvPr id="3" name="Picture 2" descr="fig2_effect_ratio_fV_2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176" y="566927"/>
            <a:ext cx="9410516" cy="60888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0972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/>
            </a:pPr>
            <a:r>
              <a:t>Fig 3</a:t>
            </a:r>
          </a:p>
        </p:txBody>
      </p:sp>
      <p:pic>
        <p:nvPicPr>
          <p:cNvPr id="3" name="Picture 2" descr="fig3_effect_ratio_vs_L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369" y="548640"/>
            <a:ext cx="9934956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F3A627-AD22-718D-3DDB-90E1D9616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62" y="1038793"/>
            <a:ext cx="11403857" cy="514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143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AA9CB9-08F3-2229-A1EB-E2A58042A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343" y="755531"/>
            <a:ext cx="7772400" cy="4062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676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0972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/>
            </a:pPr>
            <a:r>
              <a:t>Fig 4</a:t>
            </a:r>
          </a:p>
        </p:txBody>
      </p:sp>
      <p:pic>
        <p:nvPicPr>
          <p:cNvPr id="3" name="Picture 2" descr="fig4_Sf_decomp_3x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895" y="548640"/>
            <a:ext cx="9355904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F386F5-DCDE-6720-B764-2E8CCE72F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1541"/>
            <a:ext cx="7772400" cy="655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229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0972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/>
            </a:pPr>
            <a:r>
              <a:t>Fig 5</a:t>
            </a:r>
          </a:p>
        </p:txBody>
      </p:sp>
      <p:pic>
        <p:nvPicPr>
          <p:cNvPr id="3" name="Picture 2" descr="fig5_obs_vs_pred_re_norm_9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748" y="548640"/>
            <a:ext cx="7316199" cy="56235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61F834-0D95-5342-B823-9F0B01F79DB6}"/>
              </a:ext>
            </a:extLst>
          </p:cNvPr>
          <p:cNvSpPr txBox="1"/>
          <p:nvPr/>
        </p:nvSpPr>
        <p:spPr>
          <a:xfrm>
            <a:off x="8763610" y="4608576"/>
            <a:ext cx="1602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Permeability average.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0972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/>
            </a:pPr>
            <a:r>
              <a:t>Fig 6</a:t>
            </a:r>
          </a:p>
        </p:txBody>
      </p:sp>
      <p:pic>
        <p:nvPicPr>
          <p:cNvPr id="3" name="Picture 2" descr="fig6_pred_vs_obs_CF.png"/>
          <p:cNvPicPr>
            <a:picLocks noChangeAspect="1"/>
          </p:cNvPicPr>
          <p:nvPr/>
        </p:nvPicPr>
        <p:blipFill rotWithShape="1">
          <a:blip r:embed="rId2"/>
          <a:srcRect b="48780"/>
          <a:stretch/>
        </p:blipFill>
        <p:spPr>
          <a:xfrm>
            <a:off x="1395654" y="548640"/>
            <a:ext cx="9400386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/>
            </a:pPr>
            <a:r>
              <a:t>Supplementary Information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0972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/>
            </a:pPr>
            <a:r>
              <a:t>SI1</a:t>
            </a:r>
          </a:p>
        </p:txBody>
      </p:sp>
      <p:pic>
        <p:nvPicPr>
          <p:cNvPr id="3" name="Picture 2" descr="SI1_obs_vs_pred_re_abs_9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169" y="548640"/>
            <a:ext cx="7317357" cy="5623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02200"/>
            <a:ext cx="11460175" cy="62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Absolute r_e vs n_c for nine composite-channel equations, coloured by sigma. Lotter performs best (R2=0.98); Colebatch weakest.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0972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/>
            </a:pPr>
            <a:r>
              <a:t>SI2</a:t>
            </a:r>
          </a:p>
        </p:txBody>
      </p:sp>
      <p:pic>
        <p:nvPicPr>
          <p:cNvPr id="3" name="Picture 2" descr="SI2_channel_eqs_bias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867" y="548640"/>
            <a:ext cx="7267961" cy="5623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02200"/>
            <a:ext cx="11460175" cy="62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Per-method relative bias histograms for composite-channel equations. Shows systematic over/under-prediction tendencies.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0972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/>
            </a:pPr>
            <a:r>
              <a:t>SI3</a:t>
            </a:r>
          </a:p>
        </p:txBody>
      </p:sp>
      <p:pic>
        <p:nvPicPr>
          <p:cNvPr id="3" name="Picture 2" descr="fig3_effect_ratio_vs_L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369" y="548640"/>
            <a:ext cx="9934956" cy="5623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02200"/>
            <a:ext cx="11460175" cy="62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$n_e/\langle n\rangle$ vs $L_V$ faceted by $f_V$, coloured by anisotropy orientation. Shows patch-scale dependence of the roughness ratio across vegetation fractions.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0972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/>
            </a:pPr>
            <a:r>
              <a:t>SI4</a:t>
            </a:r>
          </a:p>
        </p:txBody>
      </p:sp>
      <p:pic>
        <p:nvPicPr>
          <p:cNvPr id="3" name="Picture 2" descr="SI4_effect_ratio_vs_LB_by_f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228" y="548640"/>
            <a:ext cx="9637238" cy="5623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02200"/>
            <a:ext cx="11460175" cy="62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$n_e/\langle n\rangle$ vs $L_B$ faceted by $f_V$, coloured by anisotropy orientation. Shows bare-soil patch-scale dependence of the roughness ratio across vegetation fractions.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12156</TotalTime>
  <Words>263</Words>
  <Application>Microsoft Macintosh PowerPoint</Application>
  <PresentationFormat>Widescreen</PresentationFormat>
  <Paragraphs>32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Octavia Crompton</cp:lastModifiedBy>
  <cp:revision>5</cp:revision>
  <dcterms:created xsi:type="dcterms:W3CDTF">2013-01-27T09:14:16Z</dcterms:created>
  <dcterms:modified xsi:type="dcterms:W3CDTF">2026-04-19T02:52:00Z</dcterms:modified>
  <cp:category/>
</cp:coreProperties>
</file>